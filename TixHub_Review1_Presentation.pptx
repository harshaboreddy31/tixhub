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professors. Today I am presenting Review 1 for TixHub, an Online Event and Ticket Booking System. In this review, I will detail our problem definition, system requirements, 3NF relational schema, and our comprehensive Entity-Relationship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physical and unorganized ticketing channels suffer from major bottlenecks: long queues, absence of visual seat maps, race conditions leading to double bookings, and lack of automated cancellation and feedback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TixHub solves these challenges through an end-to-end relational database solution featuring categorized events, visual cinema-style seat maps, ACID transaction guarantees, role-based security, and dynamic cancellation with review aggregations.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requirement analysis separates functional features—like authentication, seat reservation, and cancellations—from non-functional guarantees including 3NF normalization, ACID transaction boundaries, and cryptographic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TixHub follows a clean 3-tier architecture: the presentation layer in HTML5/CSS3/JavaScript, the application tier built on Express.js with JWT security, and the data tier powered by Oracle 11g XE with Thick Mode connection pooling and PL/SQL triggers.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database schema consists of 5 entities. Notably, BOOKING_SEATS is decomposed into an associative entity with a composite primary key to adhere to Third Normal Form (3NF), eliminating multi-valued seat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demonstrates our E-R diagram. Users place bookings in a 1-to-many relationship. Events link to bookings in a 1-to-many relationship. Each booking reserves multiple seats in BOOKING_SEATS, and confirmed bookings can optionally submit a rating evaluating the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schema strictly adheres to 3NF normalization to prevent insertion, update, and deletion anomalies. Integrity constraints including primary keys, foreign keys, and domain check constraints guarantee data validity.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Review 2, we will present the practical implementation: atomic checkout transactions, analytical queries with LISTAGG and AVG, index tuning, and full frontend-to-database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 and attention. I am now open to any questions or suggestions from the faculty.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50914"/>
                </a:solidFill>
                <a:latin typeface="Calibri"/>
              </a:defRPr>
            </a:pPr>
            <a:r>
              <a:t>TIXHUB</a:t>
            </a:r>
          </a:p>
          <a:p>
            <a:pPr algn="ctr">
              <a:defRPr sz="2400" b="1">
                <a:solidFill>
                  <a:srgbClr val="F8FAFC"/>
                </a:solidFill>
                <a:latin typeface="Calibri"/>
              </a:defRPr>
            </a:pPr>
            <a:r>
              <a:t>Online Event &amp; Ticket Booking System</a:t>
            </a:r>
          </a:p>
          <a:p>
            <a:pPr algn="ctr">
              <a:defRPr sz="1600">
                <a:solidFill>
                  <a:srgbClr val="10B981"/>
                </a:solidFill>
                <a:latin typeface="Calibri"/>
              </a:defRPr>
            </a:pPr>
            <a:r>
              <a:t>Review 1: System Design &amp; Entity-Relationship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53409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Course: Database Management Systems Lab (30 Marks Assessment)</a:t>
            </a:r>
          </a:p>
          <a:p>
            <a:pPr algn="ctr">
              <a:defRPr sz="1300">
                <a:solidFill>
                  <a:srgbClr val="F8FAFC"/>
                </a:solidFill>
              </a:defRPr>
            </a:pPr>
            <a:r>
              <a:t>Technologies: Oracle Database 11g XE • Node.js / Express • SQL / PL-SQL • Vanilla 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Calibri"/>
              </a:defRPr>
            </a:pPr>
            <a:r>
              <a:t>DBMS LAB PROJECT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Problem Definition &amp; Existing System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6636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1. Manual Queueing &amp; Delay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Physical ticket counters require customers to wait in long queues, leading to high transaction latency and poor user convenience.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16636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2. No Real-Time Seat Transparency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Customers cannot view live seat occupancy maps or select specific seat rows before purchasing tickets.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6636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3. Concurrency &amp; Double-Booking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Traditional systems lack ACID transaction isolation, leading to race conditions where the same seat is sold to multiple buyers.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40480"/>
            <a:ext cx="516636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4. Fragmented History &amp; Feedback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Absence of automated cancellation mechanisms, digital booking records, and verified attendee rating calculations.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Calibri"/>
              </a:defRPr>
            </a:pPr>
            <a:r>
              <a:t>DBMS LAB PROJECT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Project Objectives &amp;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🎯  Categorized Event Catalog: </a:t>
            </a:r>
            <a:r>
              <a:rPr b="0">
                <a:solidFill>
                  <a:srgbClr val="F8FAFC"/>
                </a:solidFill>
              </a:rPr>
              <a:t>Unified hub for Movies, Live Concerts, and College Festivals with date, venue, and pricing filters.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3288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🎯  Visual Seat Reservation: </a:t>
            </a:r>
            <a:r>
              <a:rPr b="0">
                <a:solidFill>
                  <a:srgbClr val="F8FAFC"/>
                </a:solidFill>
              </a:rPr>
              <a:t>Real-time interactive cinema-style seat map with instant capacity and pricing computation.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🎯  Atomic Concurrency Control: </a:t>
            </a:r>
            <a:r>
              <a:rPr b="0">
                <a:solidFill>
                  <a:srgbClr val="F8FAFC"/>
                </a:solidFill>
              </a:rPr>
              <a:t>Oracle ACID transaction boundaries to guarantee zero double-booking under high concurrent traffic.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5312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🎯  Role-Based Access Control: </a:t>
            </a:r>
            <a:r>
              <a:rPr b="0">
                <a:solidFill>
                  <a:srgbClr val="F8FAFC"/>
                </a:solidFill>
              </a:rPr>
              <a:t>Cryptographic authentication using Bcrypt password hashing and JWT token verification for Users &amp; Admins.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41324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🎯  Instant Cancellation &amp; Ratings: </a:t>
            </a:r>
            <a:r>
              <a:rPr b="0">
                <a:solidFill>
                  <a:srgbClr val="F8FAFC"/>
                </a:solidFill>
              </a:rPr>
              <a:t>Immediate seat restoration upon cancellation and aggregate 1-5 star event ratings calculated via SQL.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Calibri"/>
              </a:defRPr>
            </a:pPr>
            <a:r>
              <a:t>DBMS LAB PROJECT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Requirement Analysis (Functional &amp; Non-Functional)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50914"/>
                </a:solidFill>
              </a:defRPr>
            </a:pPr>
            <a:r>
              <a:t>⚙️  Functional Requirements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User Registration &amp; Login with Bcrypt hashing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Admin event management (CRUD operations)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Real-time search, category filtering &amp; sorting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Interactive multi-seat selection &amp; checkout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One-click booking cancellation &amp; seat release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Event rating submission (1 to 5 stars)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🛡️  Non-Functional Requirements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Data Integrity: Enforce 3NF, PK, FK, and Check Constraints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Concurrency &amp; Atomicity: ACID-compliant transaction safety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Security: JWT token authorization &amp; encrypted passwords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Performance: Sub-second response time via connection pooling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Optimistic UI: Zero page reload latency on cancellation/ratings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High Scalability: Normalized schema supporting concurrent buyers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Calibri"/>
              </a:defRPr>
            </a:pPr>
            <a:r>
              <a:t>DBMS LAB PROJECT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System Architecture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Presentation Tier (Frontend)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HTML5 • CSS3 (Flexbox/Grid) • Vanilla JavaScript (ES6+)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• Interactive visual cinema seat map &amp; optimistic DOM updates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• Responsive layout for mobile, tablet, and desktop screens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Application Tier (REST Backend)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Node.js • Express.js • JWT Authentication • Bcrypt.js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• Modular routing (/events, /bookings, /ratings, /auth)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• Role-Based Access Control middleware for User &amp; Admin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Database Tier (Oracle 11g XE)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Oracle Database 11g Express Edition • Thick Mode Connection Pool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• 5 Normalized relational tables, Check constraints, Triggers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• Optimized SQL aggregation (LISTAGG, AVG, MERGE, atomic transactions)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Calibri"/>
              </a:defRPr>
            </a:pPr>
            <a:r>
              <a:t>DBMS LAB PROJECT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Database Entities, Attributes &amp; Keys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412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0914"/>
                </a:solidFill>
              </a:defRPr>
            </a:pPr>
            <a:r>
              <a:t>📂  USERS: </a:t>
            </a:r>
            <a:r>
              <a:rPr b="1">
                <a:solidFill>
                  <a:srgbClr val="10B981"/>
                </a:solidFill>
              </a:rPr>
              <a:t>[PK: user_id (PK)] 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Attributes: name, email, password_hash, role, created_at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412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0914"/>
                </a:solidFill>
              </a:defRPr>
            </a:pPr>
            <a:r>
              <a:t>📂  EVENTS: </a:t>
            </a:r>
            <a:r>
              <a:rPr b="1">
                <a:solidFill>
                  <a:srgbClr val="10B981"/>
                </a:solidFill>
              </a:rPr>
              <a:t>[PK: event_id (PK)] 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Attributes: title, category, event_date, event_time, location, price, total_seats, icon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412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0914"/>
                </a:solidFill>
              </a:defRPr>
            </a:pPr>
            <a:r>
              <a:t>📂  BOOKINGS: </a:t>
            </a:r>
            <a:r>
              <a:rPr b="1">
                <a:solidFill>
                  <a:srgbClr val="10B981"/>
                </a:solidFill>
              </a:rPr>
              <a:t>[PK: booking_id (PK)]  </a:t>
            </a:r>
            <a:r>
              <a:rPr b="1">
                <a:solidFill>
                  <a:srgbClr val="4F46E5"/>
                </a:solidFill>
              </a:rPr>
              <a:t>[FK: user_id (FK), event_id (FK)] 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Attributes: client_id, total_price, booking_date,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412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0914"/>
                </a:solidFill>
              </a:defRPr>
            </a:pPr>
            <a:r>
              <a:t>📂  BOOKING_SEATS: </a:t>
            </a:r>
            <a:r>
              <a:rPr b="1">
                <a:solidFill>
                  <a:srgbClr val="10B981"/>
                </a:solidFill>
              </a:rPr>
              <a:t>[PK: (booking_id, seat_number) PK]  </a:t>
            </a:r>
            <a:r>
              <a:rPr b="1">
                <a:solidFill>
                  <a:srgbClr val="4F46E5"/>
                </a:solidFill>
              </a:rPr>
              <a:t>[FK: booking_id (FK)] 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Attributes: Normalized 3NF table storing individual reserved seats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412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0914"/>
                </a:solidFill>
              </a:defRPr>
            </a:pPr>
            <a:r>
              <a:t>📂  RATINGS: </a:t>
            </a:r>
            <a:r>
              <a:rPr b="1">
                <a:solidFill>
                  <a:srgbClr val="10B981"/>
                </a:solidFill>
              </a:rPr>
              <a:t>[PK: rating_id (PK)]  </a:t>
            </a:r>
            <a:r>
              <a:rPr b="1">
                <a:solidFill>
                  <a:srgbClr val="4F46E5"/>
                </a:solidFill>
              </a:rPr>
              <a:t>[FK: booking_id (FK), event_id (FK)] 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Attributes: rating (1 to 5), rated_at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Calibri"/>
              </a:defRPr>
            </a:pPr>
            <a:r>
              <a:t>DBMS LAB PROJECT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Entity-Relationship (E-R)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xHub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0362895" cy="65247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Calibri"/>
              </a:defRPr>
            </a:pPr>
            <a:r>
              <a:t>DBMS LAB PROJECT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Database Normalization (3NF) &amp; Integrity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📐  Normalization (1NF → 2NF → 3NF)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1NF (First Normal Form): Atomic column values; eradicated multi-valued booked seat arrays into individual rows.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2NF (Second Normal Form): Full functional dependency; in BOOKING_SEATS, attributes depend on the entire composite key (booking_id, seat_number).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3NF (Third Normal Form): Eradicated transitive dependencies; user credentials and event metadata exist solely in their primary entity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50914"/>
                </a:solidFill>
              </a:defRPr>
            </a:pPr>
            <a:r>
              <a:t>🔒  Database Integrity Constraints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PRIMARY KEY: Unique identifiers on users, events, bookings, and ratings.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FOREIGN KEY: Enforced referential integrity across all relationships.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CHECK (role IN ('admin', 'user')): Strict RBAC domain enforcement.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CHECK (rating BETWEEN 1 AND 5): Rating value validation.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CHECK (status IN ('confirmed', 'cancelled')): Booking status validation.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TRIGGERS &amp; SEQUENCES: Automated key generation for Oracle 11g XE.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0914"/>
                </a:solidFill>
                <a:latin typeface="Calibri"/>
              </a:defRPr>
            </a:pPr>
            <a:r>
              <a:t>DBMS LAB PROJECT •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Implementation Roadmap for Review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🚀  Phase 1: Advanced SQL Queries &amp; Analytical Aggregations</a:t>
            </a:r>
          </a:p>
          <a:p>
            <a:pPr>
              <a:spcBef>
                <a:spcPts val="300"/>
              </a:spcBef>
              <a:defRPr sz="1250">
                <a:solidFill>
                  <a:srgbClr val="94A3B8"/>
                </a:solidFill>
              </a:defRPr>
            </a:pPr>
            <a:r>
              <a:t>Implementing LISTAGG, AVG, GROUP BY, and multi-table JOINs for live seat matrices and ratings.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6148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🚀  Phase 2: Atomic Transaction Checkout Engine</a:t>
            </a:r>
          </a:p>
          <a:p>
            <a:pPr>
              <a:spcBef>
                <a:spcPts val="300"/>
              </a:spcBef>
              <a:defRPr sz="1250">
                <a:solidFill>
                  <a:srgbClr val="94A3B8"/>
                </a:solidFill>
              </a:defRPr>
            </a:pPr>
            <a:r>
              <a:t>Multi-statement checkout execution with Oracle COMMIT / ROLLBACK semantics preventing race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🚀  Phase 3: Database Views &amp; Indexing Optimization</a:t>
            </a:r>
          </a:p>
          <a:p>
            <a:pPr>
              <a:spcBef>
                <a:spcPts val="300"/>
              </a:spcBef>
              <a:defRPr sz="1250">
                <a:solidFill>
                  <a:srgbClr val="94A3B8"/>
                </a:solidFill>
              </a:defRPr>
            </a:pPr>
            <a:r>
              <a:t>Creating materialized views for active bookings and B-Tree indexes on search keywords and foreign keys.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3892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🚀  Phase 4: Full End-to-End API Integration</a:t>
            </a:r>
          </a:p>
          <a:p>
            <a:pPr>
              <a:spcBef>
                <a:spcPts val="300"/>
              </a:spcBef>
              <a:defRPr sz="1250">
                <a:solidFill>
                  <a:srgbClr val="94A3B8"/>
                </a:solidFill>
              </a:defRPr>
            </a:pPr>
            <a:r>
              <a:t>Complete validation of frontend user flows with backend Oracle connection pooling and security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011680"/>
            <a:ext cx="76196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50914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F8FAFC"/>
                </a:solidFill>
              </a:defRPr>
            </a:pPr>
            <a:r>
              <a:t>TixHub — High-Performance Event &amp; Ticket Booking System</a:t>
            </a:r>
          </a:p>
          <a:p>
            <a:pPr algn="ctr">
              <a:spcBef>
                <a:spcPts val="1500"/>
              </a:spcBef>
              <a:defRPr sz="1600">
                <a:solidFill>
                  <a:srgbClr val="10B981"/>
                </a:solidFill>
              </a:defRPr>
            </a:pPr>
            <a:r>
              <a:t>Questions &amp; Feedback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